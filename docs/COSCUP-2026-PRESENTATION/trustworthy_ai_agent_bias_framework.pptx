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開場（約 30 秒）：今天不只談模型是否有偏見，而是談 Agent 如何把偏見帶進搜尋、排序、工具呼叫與現實行動。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開場（約 3 分鐘）：先請聽眾想像履歷篩選情境。強調 Agent 的差異在於它不只回答，還會替組織採取行動。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第二段（約 2 分鐘）：把 Agent 當成系統，不是單一模型。這個循環觀點是後面分析偏見來源的基礎。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第二段（約 2 分鐘）：逐列比較。請特別停在第三、四列，說明風險從可見文字，延伸到不可見的流程選擇。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第三段（約 2 分鐘）：先展示全貌。接下來用幾張投影片把六個層次拆開，讓聽眾看到它們如何彼此串接。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第三段（約 3 分鐘）：用履歷篩選來對應四層來源。提醒大家，bias audit 的第一個問題不是「模型說了什麼」，而是「任務被怎麼定義」。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第三段（約 2 分鐘）：強調時間維度。偏見不只存在於一次執行，也可能在記憶與回饋中累積。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第四段（約 3 分鐘）：完整講解履歷篩選案例。請明確指出，這裡不需要一個明顯歧視句子，整條 pipeline 就可能產生不公平結果。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第四段（約 2 分鐘）：用「資料不足 ≠ 能力不足」這句話做記憶點。把注意力從輸出文字轉向資料流與決策流。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第五段（約 2 分鐘）：先給出框架，再逐層展開。強調三層缺一不可：只做事前設計，無法知道實際執行是否偏；只做事後評測，也可能已造成不可逆傷害。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第五段（約 2 分鐘）：事前防線的重點是任務契約。請提醒開發者，把「公平」轉成可檢查的條件與限制。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第五段（約 2 分鐘）：事中防線是權限與監督設計。以寄信、拒絕申請、核貸、醫療建議等不可逆或高風險行動為例，預設需要人工核准。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第五段（約 3 分鐘）：事後評測不要只看平均準確率。要比較不同群體、不同輪次、不同工具路徑，並建立可申訴與可回復的機制。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第六段（約 2 分鐘）：避免把公平說成單一分數。公平指標的衝突與補償性措施，最後都需要組織明確承擔價值選擇。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結語（約 1 分鐘）：依序念出三句話，將焦點從模型責任拉到系統責任。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收尾（約 1 分鐘）：不要急著給標準答案。把問題留給聽眾，邀請他們從自身的 Agent 系統中找出責任鏈。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TRUSTWORTHY AI / DEVELOPER TALK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6187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邁向可信任 AI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5681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開發者必備的 Agents 偏見檢測與緩解框架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從模型輸出，到整條決策路徑的系統責任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1051560"/>
            <a:ext cx="2423160" cy="4160520"/>
          </a:xfrm>
          <a:prstGeom prst="roundRect">
            <a:avLst>
              <a:gd name="adj" fmla="val 10566"/>
            </a:avLst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8470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公平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可覆核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40416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788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7CD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演講時間：約 30 分鐘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OPENING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開場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當有偏見的模型開始替我們做事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同一句偏見，當 Agent 能夠行動時，後果不再只停留在文字裡。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2461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93392"/>
            <a:ext cx="164592" cy="164592"/>
          </a:xfrm>
          <a:prstGeom prst="ellipse">
            <a:avLst/>
          </a:prstGeom>
          <a:solidFill>
            <a:srgbClr val="5C6770"/>
          </a:solidFill>
          <a:ln w="12700">
            <a:solidFill>
              <a:srgbClr val="5C677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LLM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「誰比較適合當工程師？」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偏見出現在回答中，仍需要人閱讀、判斷與執行。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3200400"/>
            <a:ext cx="566928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617720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828800"/>
            <a:ext cx="3840480" cy="3063240"/>
          </a:xfrm>
          <a:prstGeom prst="roundRect">
            <a:avLst>
              <a:gd name="adj" fmla="val 4179"/>
            </a:avLst>
          </a:prstGeom>
          <a:solidFill>
            <a:srgbClr val="FFF0ED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6632" y="1993392"/>
            <a:ext cx="164592" cy="164592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33172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讀履歷 → 搜尋資料 → 排序人選 → 寄出面試邀請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偏見沿著流程變成真實世界的資源分配。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1828800"/>
            <a:ext cx="2240280" cy="3063240"/>
          </a:xfrm>
          <a:prstGeom prst="roundRect">
            <a:avLst>
              <a:gd name="adj" fmla="val 6531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640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公共服務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核心問題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52760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的偏見只是語言模型偏見，還是會因為規劃、記憶、工具與自主行動而產生新的風險？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OPENING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基本結構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Agent？一個會循環的決策系統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它把目標拆成步驟，使用工具取得資訊，再依結果調整下一步。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13055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使用者希望完成什麼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67912" y="2542032"/>
            <a:ext cx="438912" cy="0"/>
          </a:xfrm>
          <a:prstGeom prst="line">
            <a:avLst/>
          </a:prstGeom>
          <a:noFill/>
          <a:ln w="25400">
            <a:solidFill>
              <a:srgbClr val="168C8C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97096" y="2441448"/>
            <a:ext cx="201168" cy="201168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9659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13055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將任務拆成步驟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71232" y="2542032"/>
            <a:ext cx="438912" cy="0"/>
          </a:xfrm>
          <a:prstGeom prst="line">
            <a:avLst/>
          </a:prstGeom>
          <a:noFill/>
          <a:ln w="25400">
            <a:solidFill>
              <a:srgbClr val="168C8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900416" y="2441448"/>
            <a:ext cx="201168" cy="201168"/>
          </a:xfrm>
          <a:prstGeom prst="chevron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9659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7032" y="213055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31352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推理與決策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46920" y="3154680"/>
            <a:ext cx="0" cy="228600"/>
          </a:xfrm>
          <a:prstGeom prst="line">
            <a:avLst/>
          </a:prstGeom>
          <a:noFill/>
          <a:ln w="19050">
            <a:solidFill>
              <a:srgbClr val="168C8C"/>
            </a:solidFill>
            <a:prstDash val="dash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85800" y="35661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3730752"/>
            <a:ext cx="164592" cy="164592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4712" y="3685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搜尋、資料庫、程式、郵件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5661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373075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8032" y="3685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保存經驗與使用者資訊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356616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7032" y="373075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3685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行動與回饋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執行後調整下一步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40280" y="4937760"/>
            <a:ext cx="7726680" cy="0"/>
          </a:xfrm>
          <a:prstGeom prst="line">
            <a:avLst/>
          </a:prstGeom>
          <a:noFill/>
          <a:ln w="25400">
            <a:solidFill>
              <a:srgbClr val="168C8C"/>
            </a:solidFill>
            <a:prstDash val="dash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2011680" y="5193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每一次工具呼叫與記憶寫入，都可能改變下一步的決策空間。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ANATOMY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比較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Agent 的偏見更複雜？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偏見可能藏在輸出之外：搜尋什麼、相信什麼、做什麼。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880" y="18288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LLM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20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12080" cy="713232"/>
          </a:xfrm>
          <a:prstGeom prst="roundRect">
            <a:avLst>
              <a:gd name="adj" fmla="val 3846"/>
            </a:avLst>
          </a:prstGeom>
          <a:solidFill>
            <a:srgbClr val="F0F3F6"/>
          </a:solidFill>
          <a:ln w="12700">
            <a:solidFill>
              <a:srgbClr val="F0F3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2331720"/>
            <a:ext cx="5440680" cy="713232"/>
          </a:xfrm>
          <a:prstGeom prst="roundRect">
            <a:avLst>
              <a:gd name="adj" fmla="val 3846"/>
            </a:avLst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478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主要產生文字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780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可能採取實際行動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090672"/>
            <a:ext cx="52120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3090672"/>
            <a:ext cx="5440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2369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通常是單次回答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236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多步驟、持續決策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849624"/>
            <a:ext cx="5212080" cy="713232"/>
          </a:xfrm>
          <a:prstGeom prst="roundRect">
            <a:avLst>
              <a:gd name="adj" fmla="val 3846"/>
            </a:avLst>
          </a:prstGeom>
          <a:solidFill>
            <a:srgbClr val="F0F3F6"/>
          </a:solidFill>
          <a:ln w="12700">
            <a:solidFill>
              <a:srgbClr val="F0F3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3849624"/>
            <a:ext cx="5440680" cy="713232"/>
          </a:xfrm>
          <a:prstGeom prst="roundRect">
            <a:avLst>
              <a:gd name="adj" fmla="val 3846"/>
            </a:avLst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偏見較容易在輸出中被看見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995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偏見可能藏在搜尋、排序與工具選擇中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608576"/>
            <a:ext cx="52120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4608576"/>
            <a:ext cx="5440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影響多半停留在資訊層面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可能影響工作、金融、醫療與公共服務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判斷單位從「一句回答」變成「整條決策路徑」。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ANATOMY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來源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的偏見：六個相互連結的層次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不要只問「模型有沒有偏見」，要問偏見在哪個環節被引入、被放大、被固化。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模型偏見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刻板印象被當成合理判斷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0848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48072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目標與指令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「適合」未定義；效率壓過公平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92024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0848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897112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資料與檢索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曝光度高的資料被過度採用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6393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99032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工具與流程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查詢詞、資料庫、評分器都會偏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47472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36393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記憶與回饋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一次推測變事實，形成循環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83880" y="3474720"/>
            <a:ext cx="3200400" cy="1143000"/>
          </a:xfrm>
          <a:prstGeom prst="roundRect">
            <a:avLst>
              <a:gd name="adj" fmla="val 11200"/>
            </a:avLst>
          </a:prstGeom>
          <a:solidFill>
            <a:srgbClr val="FFF0ED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36393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多代理人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彼此引用，形成假共識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偏見不只是一個模型問題，而是一個系統問題。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BIAS SOURCES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來源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前四層：偏見如何進入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偏見可能在「定義任務」以前就已經被寫進系統。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93392"/>
            <a:ext cx="164592" cy="164592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模型偏見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訓練資料裡的性別、職業、族群與文化刻板印象。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常見關聯，不等於合理判斷。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1993392"/>
            <a:ext cx="164592" cy="164592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95344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目標與指令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3317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「找最適合的人」中的「適合」沒有定義。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使用者的假設可能被 Agent 直接繼承。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7064" y="1828800"/>
            <a:ext cx="2606040" cy="32004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199339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5976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資料與檢索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3317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搜尋結果不是完整世界。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資料稀少、曝光不足，容易被誤判成能力不足。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97696" y="182880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1993392"/>
            <a:ext cx="164592" cy="16459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36608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工具與流程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33172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查詢詞、資料庫、評分工具的選擇，會改變誰被看見。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中立工具串接後也可能累積偏差。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設計提醒：先把「成功」與「公平」都寫成可檢查的要求。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BIAS SOURCES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來源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後兩層：偏見如何被放大與固化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 Agent 能記住、回饋、互相引用，偏見就可能變成系統慣性。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983480" cy="3246120"/>
          </a:xfrm>
          <a:prstGeom prst="roundRect">
            <a:avLst>
              <a:gd name="adj" fmla="val 3944"/>
            </a:avLst>
          </a:prstGeom>
          <a:solidFill>
            <a:srgbClr val="FFF0ED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993392"/>
            <a:ext cx="164592" cy="164592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61872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記憶與回饋偏見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一次「資料不足」的推測，被寫入記憶，下一輪便被當成事實。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越常選擇某類人 → 系統越認為這類人更適合 → 下一輪更常選擇同類人。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828800"/>
            <a:ext cx="4983480" cy="3246120"/>
          </a:xfrm>
          <a:prstGeom prst="roundRect">
            <a:avLst>
              <a:gd name="adj" fmla="val 3944"/>
            </a:avLst>
          </a:prstGeom>
          <a:solidFill>
            <a:srgbClr val="EAF7F4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9339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21424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多代理人偏見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33172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 Agent 彼此引用，不代表偏見會消失。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 Agent 可能與執行 Agent 共享相同資料、模型與盲點，形成「彼此同意」的假共識。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5532120"/>
            <a:ext cx="7315200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217152" y="543153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記憶讓過去影響未來；多代理人讓單一盲點看起來像共識。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BIAS SOURCES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案例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案例：履歷篩選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份履歷 → 20 位 AI 工程師候選人：偏見不是一句話，而是一條鏈。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828800" cy="2148840"/>
          </a:xfrm>
          <a:prstGeom prst="roundRect">
            <a:avLst>
              <a:gd name="adj" fmla="val 7500"/>
            </a:avLst>
          </a:prstGeom>
          <a:solidFill>
            <a:srgbClr val="214B66"/>
          </a:solidFill>
          <a:ln w="12700">
            <a:solidFill>
              <a:srgbClr val="214B66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定義優秀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73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4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學校、公司、工作連續性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2888" y="3200400"/>
            <a:ext cx="310896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734056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148840"/>
            <a:ext cx="1828800" cy="2148840"/>
          </a:xfrm>
          <a:prstGeom prst="roundRect">
            <a:avLst>
              <a:gd name="adj" fmla="val 7500"/>
            </a:avLst>
          </a:prstGeom>
          <a:solidFill>
            <a:srgbClr val="214B66"/>
          </a:solidFill>
          <a:ln w="12700">
            <a:solidFill>
              <a:srgbClr val="214B6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27432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補充資料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3273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4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搜尋網路曝光與履歷缺口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200400"/>
            <a:ext cx="310896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001768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2148840"/>
            <a:ext cx="1828800" cy="2148840"/>
          </a:xfrm>
          <a:prstGeom prst="roundRect">
            <a:avLst>
              <a:gd name="adj" fmla="val 7500"/>
            </a:avLst>
          </a:prstGeom>
          <a:solidFill>
            <a:srgbClr val="214B66"/>
          </a:solidFill>
          <a:ln w="12700">
            <a:solidFill>
              <a:srgbClr val="214B6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58384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58384" y="27432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形成推測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58384" y="3273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4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育兒中斷、非典型背景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68312" y="3200400"/>
            <a:ext cx="310896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269480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2148840"/>
            <a:ext cx="1828800" cy="2148840"/>
          </a:xfrm>
          <a:prstGeom prst="roundRect">
            <a:avLst>
              <a:gd name="adj" fmla="val 7500"/>
            </a:avLst>
          </a:prstGeom>
          <a:solidFill>
            <a:srgbClr val="8D3D48"/>
          </a:solidFill>
          <a:ln w="12700">
            <a:solidFill>
              <a:srgbClr val="8D3D4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26096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26096" y="27432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排序決策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26096" y="3273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4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資料不足被當成能力不足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6024" y="3200400"/>
            <a:ext cx="310896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537192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2148840"/>
            <a:ext cx="1828800" cy="2148840"/>
          </a:xfrm>
          <a:prstGeom prst="roundRect">
            <a:avLst>
              <a:gd name="adj" fmla="val 7500"/>
            </a:avLst>
          </a:prstGeom>
          <a:solidFill>
            <a:srgbClr val="214B66"/>
          </a:solidFill>
          <a:ln w="12700">
            <a:solidFill>
              <a:srgbClr val="214B6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93808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93808" y="27432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固化結果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3273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4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排序存入系統，成為下一輪依據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每一個局部判斷都「看似合理」，串起來卻可能排除同一批人。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案例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放大的關鍵：資料不足 ≠ 能力不足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很容易把「看不見」誤讀成「不存在」。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原始履歷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搜尋與排序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系統記憶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5554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下一輪決策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23317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560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非典型背景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網路曝光少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職涯有中斷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3200400"/>
            <a:ext cx="457200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593592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240280"/>
            <a:ext cx="23317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0520" y="26517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能力評分下降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457200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611112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240280"/>
            <a:ext cx="23317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68896" y="2560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排序結果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被保存成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「成功模式」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281160" y="3200400"/>
            <a:ext cx="457200" cy="0"/>
          </a:xfrm>
          <a:prstGeom prst="line">
            <a:avLst/>
          </a:prstGeom>
          <a:noFill/>
          <a:ln w="25400">
            <a:solidFill>
              <a:srgbClr val="E66A5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628632" y="3099816"/>
            <a:ext cx="201168" cy="201168"/>
          </a:xfrm>
          <a:prstGeom prst="chevron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2240280"/>
            <a:ext cx="1508760" cy="1965960"/>
          </a:xfrm>
          <a:prstGeom prst="roundRect">
            <a:avLst>
              <a:gd name="adj" fmla="val 8485"/>
            </a:avLst>
          </a:prstGeom>
          <a:solidFill>
            <a:srgbClr val="FFF0ED"/>
          </a:solidFill>
          <a:ln w="12700">
            <a:solidFill>
              <a:srgbClr val="E66A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04120" y="27432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偏差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要審計的是整條路徑：輸入 → 檢索 → 推論 → 排序 → 記憶 → 行動。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緩解框架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三層防線：事前、事中、事後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去偏見不是 Prompt 裡的一句提醒，而是整個 Agent 系統的工程設計。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143000" cy="868680"/>
          </a:xfrm>
          <a:prstGeom prst="roundRect">
            <a:avLst>
              <a:gd name="adj" fmla="val 13684"/>
            </a:avLst>
          </a:prstGeom>
          <a:solidFill>
            <a:srgbClr val="DDF4EF"/>
          </a:solidFill>
          <a:ln w="12700">
            <a:solidFill>
              <a:srgbClr val="DDF4E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1828800"/>
            <a:ext cx="2834640" cy="868680"/>
          </a:xfrm>
          <a:prstGeom prst="roundRect">
            <a:avLst>
              <a:gd name="adj" fmla="val 13684"/>
            </a:avLst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9152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設計公平的任務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0025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定義標準、辨識代理變數、預想受影響群體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143000" cy="868680"/>
          </a:xfrm>
          <a:prstGeom prst="roundRect">
            <a:avLst>
              <a:gd name="adj" fmla="val 13684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284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事中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3127248"/>
            <a:ext cx="2834640" cy="868680"/>
          </a:xfrm>
          <a:prstGeom prst="roundRect">
            <a:avLst>
              <a:gd name="adj" fmla="val 13684"/>
            </a:avLst>
          </a:prstGeom>
          <a:solidFill>
            <a:srgbClr val="F0B44D"/>
          </a:solidFill>
          <a:ln w="12700">
            <a:solidFill>
              <a:srgbClr val="F0B44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59152" y="33284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限制與監督決策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3009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留痕、分權、交叉檢查、高風險人工核准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425696"/>
            <a:ext cx="1143000" cy="868680"/>
          </a:xfrm>
          <a:prstGeom prst="roundRect">
            <a:avLst>
              <a:gd name="adj" fmla="val 13684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6268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48840" y="4425696"/>
            <a:ext cx="2834640" cy="868680"/>
          </a:xfrm>
          <a:prstGeom prst="roundRect">
            <a:avLst>
              <a:gd name="adj" fmla="val 13684"/>
            </a:avLst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59152" y="46268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評測與持續監控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599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群體指標、配對測試、多輪測試、申訴覆核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系統責任 = 設計選擇 + 執行控制 + 事後證據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MITIGATION FRAMEWORK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事前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事前：把公平寫進任務設計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先決定「什麼算好」，再讓 Agent 開始找答案。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46304" cy="146304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801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明確定義評估標準：區分必要條件與代理變數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46304" cy="146304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487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避免以姓名、性別、年齡或居住地推測能力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46304" cy="146304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172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在系統提示加入公平性與不確定性要求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146304" cy="146304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先分析哪些群體可能受到不利影響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58200" y="1920240"/>
            <a:ext cx="2560320" cy="2514600"/>
          </a:xfrm>
          <a:prstGeom prst="roundRect">
            <a:avLst>
              <a:gd name="adj" fmla="val 7273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任務契約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2" y="27889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評估標準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不可使用的代理變數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需要人工介入的情況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問題不是「Prompt 夠不夠好」，而是「任務是否可被公平地執行」。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MITIGATION FRAMEWORK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事中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事中：限制 Agent 的決策與行動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讓每個重要選擇都能被看見、被挑戰、被攔下。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983480" cy="1188720"/>
          </a:xfrm>
          <a:prstGeom prst="roundRect">
            <a:avLst>
              <a:gd name="adj" fmla="val 10769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99339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16152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保留工具呼叫、資料來源與推理軌跡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4983480" cy="1188720"/>
          </a:xfrm>
          <a:prstGeom prst="roundRect">
            <a:avLst>
              <a:gd name="adj" fmla="val 10769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9339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1947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可分權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搜尋、評分、決策、執行權限分開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4983480" cy="1188720"/>
          </a:xfrm>
          <a:prstGeom prst="roundRect">
            <a:avLst>
              <a:gd name="adj" fmla="val 10769"/>
            </a:avLst>
          </a:prstGeom>
          <a:solidFill>
            <a:srgbClr val="F7F8FA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593592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16152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可質疑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要求反例、替代解釋與不確定性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429000"/>
            <a:ext cx="4983480" cy="1188720"/>
          </a:xfrm>
          <a:prstGeom prst="roundRect">
            <a:avLst>
              <a:gd name="adj" fmla="val 10769"/>
            </a:avLst>
          </a:prstGeom>
          <a:solidFill>
            <a:srgbClr val="FFF0ED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3593592"/>
            <a:ext cx="164592" cy="164592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93992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可覆核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獨立模型/評審交叉檢查；高風險行動人工核准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高風險、不可逆的行動：預設「人先批准」，不是「事後通知」。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MITIGATION FRAMEWORK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事後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事後：把偏見變成可量測、可追蹤的訊號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評估單次回答不夠；要測整個 Agent 在多輪執行後的行為。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3317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群體差異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46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通過率、錯誤率、資源分配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84448" y="1965960"/>
            <a:ext cx="2331720" cy="2194560"/>
          </a:xfrm>
          <a:prstGeom prst="roundRect">
            <a:avLst>
              <a:gd name="adj" fmla="val 5833"/>
            </a:avLst>
          </a:prstGeom>
          <a:solidFill>
            <a:srgbClr val="FFF3D9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7328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配對測試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46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只改變性別、姓名或族群線索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45936" y="1965960"/>
            <a:ext cx="23317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多輪測試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3246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觀察記憶與回饋是否累積偏差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07424" y="1965960"/>
            <a:ext cx="2331720" cy="2194560"/>
          </a:xfrm>
          <a:prstGeom prst="roundRect">
            <a:avLst>
              <a:gd name="adj" fmla="val 5833"/>
            </a:avLst>
          </a:prstGeom>
          <a:solidFill>
            <a:srgbClr val="FFF0ED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0304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6A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治理機制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90304" y="3246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申訴、覆核、決策回復與責任紀錄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建立基線 → 反覆測試 → 設定門檻 → 觸發覆核 → 修正並留證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MITIGATION FRAMEWORK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限制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去偏見本身也有兩難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工程控制可以降低風險，但不能替人決定所有價值取捨。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46304" cy="146304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7373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公平沒有唯一的數學定義；不同指標可能互相衝突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587752"/>
            <a:ext cx="146304" cy="146304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4505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移除敏感欄位，不代表其他欄位不會成為代理變數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300984"/>
            <a:ext cx="146304" cy="146304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1638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要求模型完全「看不見差異」，有時反而無法補償既有不平等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146304" cy="146304"/>
          </a:xfrm>
          <a:prstGeom prst="ellipse">
            <a:avLst/>
          </a:prstGeom>
          <a:solidFill>
            <a:srgbClr val="E66A5D"/>
          </a:solidFill>
          <a:ln w="12700">
            <a:solidFill>
              <a:srgbClr val="E66A5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8770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多一個評審 Agent，不代表一定更公平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1920240" cy="3108960"/>
          </a:xfrm>
          <a:prstGeom prst="roundRect">
            <a:avLst>
              <a:gd name="adj" fmla="val 8571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最後的問題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54312" y="29077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誰來決定？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354312" y="3977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可接受的價值取捨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需要人負責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LIMITS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結語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從模型去偏見，走向系統責任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三句話帶走今天的框架。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9222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的偏見不只來自模型，也來自目標、資料、工具、記憶與回饋。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75234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能夠行動，因此小偏差可能經過多步決策被放大。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71246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真正的去偏見需要評測、權限控制、人工監督與持續治理。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可信任 AI 不是「沒有偏見」的承諾，而是「能發現、能限制、能負責」的能力。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CLOSING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8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留給大家的問題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 Agent 做出不公平的決定時，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33472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責任屬於模型、資料、工具、設計者，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還是授權它行動的人？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498348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5102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Agent 值得被信任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594360" y="65562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邁向可信任 AI：開發者必備的 Agents 偏見檢測與緩解框架</dc:title>
  <dc:subject>Agents 偏見檢測與緩解框架</dc:subject>
  <dc:creator>OpenAI</dc:creator>
  <cp:lastModifiedBy>OpenAI</cp:lastModifiedBy>
  <cp:revision>1</cp:revision>
  <dcterms:created xsi:type="dcterms:W3CDTF">2026-08-25T02:12:05Z</dcterms:created>
  <dcterms:modified xsi:type="dcterms:W3CDTF">2026-08-25T02:12:05Z</dcterms:modified>
</cp:coreProperties>
</file>