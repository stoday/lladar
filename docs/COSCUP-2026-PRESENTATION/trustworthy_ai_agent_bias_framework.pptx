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開場（約 30 秒）：今天不只談模型是否有偏見，而是談 Agent 如何把偏見帶進搜尋、排序、工具呼叫與現實行動。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開場（約 3 分鐘）：先請聽眾想像履歷篩選情境。強調 Agent 的差異在於它不只回答，還會替組織採取行動。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第二段（約 2 分鐘）：把 Agent 當成系統，不是單一模型。這個循環觀點是後面分析偏見來源的基礎。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第二段（約 2 分鐘）：逐列比較。請特別停在第三、四列，說明風險從可見文字，延伸到不可見的流程選擇。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第三段（約 2 分鐘）：先展示全貌。接下來用幾張投影片把六個層次拆開，讓聽眾看到它們如何彼此串接。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第三段（約 3 分鐘）：用履歷篩選來對應四層來源。提醒大家，bias audit 的第一個問題不是「模型說了什麼」，而是「任務被怎麼定義」。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第三段（約 2 分鐘）：強調時間維度。偏見不只存在於一次執行，也可能在記憶與回饋中累積。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第四段（約 3 分鐘）：完整講解履歷篩選案例。請明確指出，這裡不需要一個明顯歧視句子，整條 pipeline 就可能產生不公平結果。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第四段（約 2 分鐘）：用「資料不足 ≠ 能力不足」這句話做記憶點。把注意力從輸出文字轉向資料流與決策流。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第五段（約 2 分鐘）：先給出框架，再逐層展開。強調三層缺一不可：只做事前設計，無法知道實際執行是否偏；只做事後評測，也可能已造成不可逆傷害。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第五段（約 2 分鐘）：事前防線的重點是任務契約。請提醒開發者，把「公平」轉成可檢查的條件與限制。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第五段（約 2 分鐘）：事中防線是權限與監督設計。以寄信、拒絕申請、核貸、醫療建議等不可逆或高風險行動為例，預設需要人工核准。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第五段（約 3 分鐘）：事後評測不要只看平均準確率。要比較不同群體、不同輪次、不同工具路徑，並建立可申訴與可回復的機制。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第六段（約 2 分鐘）：避免把公平說成單一分數。公平指標的衝突與補償性措施，最後都需要組織明確承擔價值選擇。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結語（約 1 分鐘）：依序念出三句話，將焦點從模型責任拉到系統責任。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收尾（約 1 分鐘）：不要急著給標準答案。把問題留給聽眾，邀請他們從自身的 Agent 系統中找出責任鏈。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56692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DF4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TRUSTWORTHY AI / DEVELOPER TALK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261872"/>
            <a:ext cx="6583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邁向可信任 AI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956816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開發者必備的 Agents 偏見檢測與緩解框架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090672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DDF4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從模型輸出，到整條決策路徑的系統責任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503920" y="1051560"/>
            <a:ext cx="2423160" cy="4160520"/>
          </a:xfrm>
          <a:prstGeom prst="roundRect">
            <a:avLst>
              <a:gd name="adj" fmla="val 10566"/>
            </a:avLst>
          </a:prstGeom>
          <a:solidFill>
            <a:srgbClr val="168C8C"/>
          </a:solidFill>
          <a:ln w="12700">
            <a:solidFill>
              <a:srgbClr val="168C8C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0" y="14447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DF4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869680" y="1847088"/>
            <a:ext cx="1737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公平</a:t>
            </a:r>
            <a:endParaRPr lang="en-US" sz="26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可追溯</a:t>
            </a:r>
            <a:endParaRPr lang="en-US" sz="2600" dirty="0"/>
          </a:p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可覆核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8869680" y="4041648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BIAS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CONTROL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57881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B7CD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演講時間：約 30 分鐘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D8DEE5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 txBox="1"/>
          <p:nvPr/>
        </p:nvSpPr>
        <p:spPr>
          <a:xfrm>
            <a:off x="594360" y="6556248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OPENING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1110996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10789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開場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當有偏見的模型開始替我們做事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12648" y="126187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同一句偏見，當 Agent 能夠行動時，後果不再只停留在文字裡。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3246120" cy="306324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1993392"/>
            <a:ext cx="164592" cy="164592"/>
          </a:xfrm>
          <a:prstGeom prst="ellipse">
            <a:avLst/>
          </a:prstGeom>
          <a:solidFill>
            <a:srgbClr val="5C6770"/>
          </a:solidFill>
          <a:ln w="12700">
            <a:solidFill>
              <a:srgbClr val="5C6770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24712" y="194767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LLM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31720"/>
            <a:ext cx="28803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「誰比較適合當工程師？」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偏見出現在回答中，仍需要人閱讀、判斷與執行。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60520" y="3200400"/>
            <a:ext cx="566928" cy="0"/>
          </a:xfrm>
          <a:prstGeom prst="line">
            <a:avLst/>
          </a:prstGeom>
          <a:noFill/>
          <a:ln w="25400">
            <a:solidFill>
              <a:srgbClr val="E66A5D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4617720" y="3099816"/>
            <a:ext cx="201168" cy="201168"/>
          </a:xfrm>
          <a:prstGeom prst="chevron">
            <a:avLst/>
          </a:prstGeom>
          <a:solidFill>
            <a:srgbClr val="E66A5D"/>
          </a:solidFill>
          <a:ln w="12700">
            <a:solidFill>
              <a:srgbClr val="E66A5D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92040" y="1828800"/>
            <a:ext cx="3840480" cy="3063240"/>
          </a:xfrm>
          <a:prstGeom prst="roundRect">
            <a:avLst>
              <a:gd name="adj" fmla="val 4179"/>
            </a:avLst>
          </a:prstGeom>
          <a:solidFill>
            <a:srgbClr val="FFF0ED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56632" y="1993392"/>
            <a:ext cx="164592" cy="164592"/>
          </a:xfrm>
          <a:prstGeom prst="ellipse">
            <a:avLst/>
          </a:prstGeom>
          <a:solidFill>
            <a:srgbClr val="E66A5D"/>
          </a:solidFill>
          <a:ln w="12700">
            <a:solidFill>
              <a:srgbClr val="E66A5D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30952" y="194767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Agent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2331720"/>
            <a:ext cx="34747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讀履歷 → 搜尋資料 → 排序人選 → 寄出面試邀請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偏見沿著流程變成真實世界的資源分配。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189720" y="1828800"/>
            <a:ext cx="2240280" cy="3063240"/>
          </a:xfrm>
          <a:prstGeom prst="roundRect">
            <a:avLst>
              <a:gd name="adj" fmla="val 6531"/>
            </a:avLst>
          </a:prstGeom>
          <a:solidFill>
            <a:srgbClr val="17324D"/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64040" y="2148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DDF4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影響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464040" y="2651760"/>
            <a:ext cx="1554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</a:t>
            </a:r>
            <a:endParaRPr lang="en-US" sz="2200" dirty="0"/>
          </a:p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</a:t>
            </a:r>
            <a:endParaRPr lang="en-US" sz="2200" dirty="0"/>
          </a:p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醫療</a:t>
            </a:r>
            <a:endParaRPr lang="en-US" sz="2200" dirty="0"/>
          </a:p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公共服務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3492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6A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核心問題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920240" y="527608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的偏見只是語言模型偏見，還是會因為規劃、記憶、工具與自主行動而產生新的風險？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D8DEE5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 txBox="1"/>
          <p:nvPr/>
        </p:nvSpPr>
        <p:spPr>
          <a:xfrm>
            <a:off x="594360" y="6556248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OPENING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1110996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10789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基本結構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什麼是 Agent？一個會循環的決策系統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12648" y="126187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它把目標拆成步驟，使用工具取得資訊，再依結果調整下一步。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965960"/>
            <a:ext cx="3108960" cy="1143000"/>
          </a:xfrm>
          <a:prstGeom prst="roundRect">
            <a:avLst>
              <a:gd name="adj" fmla="val 11200"/>
            </a:avLst>
          </a:prstGeom>
          <a:solidFill>
            <a:srgbClr val="F7F8FA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2130552"/>
            <a:ext cx="164592" cy="164592"/>
          </a:xfrm>
          <a:prstGeom prst="ellipse">
            <a:avLst/>
          </a:prstGeom>
          <a:solidFill>
            <a:srgbClr val="168C8C"/>
          </a:solidFill>
          <a:ln w="12700">
            <a:solidFill>
              <a:srgbClr val="168C8C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24712" y="208483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68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使用者希望完成什麼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867912" y="2542032"/>
            <a:ext cx="438912" cy="0"/>
          </a:xfrm>
          <a:prstGeom prst="line">
            <a:avLst/>
          </a:prstGeom>
          <a:noFill/>
          <a:ln w="25400">
            <a:solidFill>
              <a:srgbClr val="168C8C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4197096" y="2441448"/>
            <a:ext cx="201168" cy="201168"/>
          </a:xfrm>
          <a:prstGeom prst="chevron">
            <a:avLst/>
          </a:prstGeom>
          <a:solidFill>
            <a:srgbClr val="168C8C"/>
          </a:solidFill>
          <a:ln w="12700">
            <a:solidFill>
              <a:srgbClr val="168C8C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89120" y="1965960"/>
            <a:ext cx="3108960" cy="1143000"/>
          </a:xfrm>
          <a:prstGeom prst="roundRect">
            <a:avLst>
              <a:gd name="adj" fmla="val 11200"/>
            </a:avLst>
          </a:prstGeom>
          <a:solidFill>
            <a:srgbClr val="F7F8FA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53712" y="2130552"/>
            <a:ext cx="164592" cy="164592"/>
          </a:xfrm>
          <a:prstGeom prst="ellipse">
            <a:avLst/>
          </a:prstGeom>
          <a:solidFill>
            <a:srgbClr val="168C8C"/>
          </a:solidFill>
          <a:ln w="12700">
            <a:solidFill>
              <a:srgbClr val="168C8C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28032" y="208483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2468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將任務拆成步驟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71232" y="2542032"/>
            <a:ext cx="438912" cy="0"/>
          </a:xfrm>
          <a:prstGeom prst="line">
            <a:avLst/>
          </a:prstGeom>
          <a:noFill/>
          <a:ln w="25400">
            <a:solidFill>
              <a:srgbClr val="168C8C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900416" y="2441448"/>
            <a:ext cx="201168" cy="201168"/>
          </a:xfrm>
          <a:prstGeom prst="chevron">
            <a:avLst/>
          </a:prstGeom>
          <a:solidFill>
            <a:srgbClr val="168C8C"/>
          </a:solidFill>
          <a:ln w="12700">
            <a:solidFill>
              <a:srgbClr val="168C8C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92440" y="1965960"/>
            <a:ext cx="3108960" cy="1143000"/>
          </a:xfrm>
          <a:prstGeom prst="roundRect">
            <a:avLst>
              <a:gd name="adj" fmla="val 11200"/>
            </a:avLst>
          </a:prstGeom>
          <a:solidFill>
            <a:srgbClr val="F7F8FA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57032" y="2130552"/>
            <a:ext cx="164592" cy="164592"/>
          </a:xfrm>
          <a:prstGeom prst="ellipse">
            <a:avLst/>
          </a:prstGeom>
          <a:solidFill>
            <a:srgbClr val="168C8C"/>
          </a:solidFill>
          <a:ln w="12700">
            <a:solidFill>
              <a:srgbClr val="168C8C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531352" y="208483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4688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推理與決策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646920" y="3154680"/>
            <a:ext cx="0" cy="228600"/>
          </a:xfrm>
          <a:prstGeom prst="line">
            <a:avLst/>
          </a:prstGeom>
          <a:noFill/>
          <a:ln w="19050">
            <a:solidFill>
              <a:srgbClr val="168C8C"/>
            </a:solidFill>
            <a:prstDash val="dash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685800" y="3566160"/>
            <a:ext cx="3108960" cy="1143000"/>
          </a:xfrm>
          <a:prstGeom prst="roundRect">
            <a:avLst>
              <a:gd name="adj" fmla="val 11200"/>
            </a:avLst>
          </a:prstGeom>
          <a:solidFill>
            <a:srgbClr val="F7F8FA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0392" y="3730752"/>
            <a:ext cx="164592" cy="164592"/>
          </a:xfrm>
          <a:prstGeom prst="ellipse">
            <a:avLst/>
          </a:prstGeom>
          <a:solidFill>
            <a:srgbClr val="E66A5D"/>
          </a:solidFill>
          <a:ln w="12700">
            <a:solidFill>
              <a:srgbClr val="E66A5D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24712" y="368503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工具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68680" y="40690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搜尋、資料庫、程式、郵件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89120" y="3566160"/>
            <a:ext cx="3108960" cy="1143000"/>
          </a:xfrm>
          <a:prstGeom prst="roundRect">
            <a:avLst>
              <a:gd name="adj" fmla="val 11200"/>
            </a:avLst>
          </a:prstGeom>
          <a:solidFill>
            <a:srgbClr val="F7F8FA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53712" y="3730752"/>
            <a:ext cx="164592" cy="164592"/>
          </a:xfrm>
          <a:prstGeom prst="ellipse">
            <a:avLst/>
          </a:prstGeom>
          <a:solidFill>
            <a:srgbClr val="168C8C"/>
          </a:solidFill>
          <a:ln w="12700">
            <a:solidFill>
              <a:srgbClr val="168C8C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28032" y="368503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記憶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0" y="40690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保存經驗與使用者資訊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092440" y="3566160"/>
            <a:ext cx="3108960" cy="1143000"/>
          </a:xfrm>
          <a:prstGeom prst="roundRect">
            <a:avLst>
              <a:gd name="adj" fmla="val 11200"/>
            </a:avLst>
          </a:prstGeom>
          <a:solidFill>
            <a:srgbClr val="F7F8FA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57032" y="3730752"/>
            <a:ext cx="164592" cy="164592"/>
          </a:xfrm>
          <a:prstGeom prst="ellipse">
            <a:avLst/>
          </a:prstGeom>
          <a:solidFill>
            <a:srgbClr val="168C8C"/>
          </a:solidFill>
          <a:ln w="12700">
            <a:solidFill>
              <a:srgbClr val="168C8C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531352" y="368503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行動與回饋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275320" y="40690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執行後調整下一步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240280" y="4937760"/>
            <a:ext cx="7726680" cy="0"/>
          </a:xfrm>
          <a:prstGeom prst="line">
            <a:avLst/>
          </a:prstGeom>
          <a:noFill/>
          <a:ln w="25400">
            <a:solidFill>
              <a:srgbClr val="168C8C"/>
            </a:solidFill>
            <a:prstDash val="dash"/>
            <a:headEnd type="none"/>
            <a:tailEnd type="none"/>
          </a:ln>
        </p:spPr>
      </p:sp>
      <p:sp>
        <p:nvSpPr>
          <p:cNvPr id="35" name="Text 33"/>
          <p:cNvSpPr txBox="1"/>
          <p:nvPr/>
        </p:nvSpPr>
        <p:spPr>
          <a:xfrm>
            <a:off x="2011680" y="51937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每一次工具呼叫與記憶寫入，都可能改變下一步的決策空間。</a:t>
            </a:r>
            <a:endParaRPr lang="en-US" sz="1700" dirty="0"/>
          </a:p>
        </p:txBody>
      </p:sp>
      <p:sp>
        <p:nvSpPr>
          <p:cNvPr id="36" name="Shape 34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D8DEE5"/>
            </a:solidFill>
            <a:prstDash val="solid"/>
            <a:headEnd type="none"/>
            <a:tailEnd type="none"/>
          </a:ln>
        </p:spPr>
      </p:sp>
      <p:sp>
        <p:nvSpPr>
          <p:cNvPr id="37" name="Text 35"/>
          <p:cNvSpPr txBox="1"/>
          <p:nvPr/>
        </p:nvSpPr>
        <p:spPr>
          <a:xfrm>
            <a:off x="594360" y="6556248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ANATOMY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1110996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10789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比較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 Agent 的偏見更複雜？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12648" y="126187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偏見可能藏在輸出之外：搜尋什麼、相信什麼、做什麼。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52120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97880" y="1828800"/>
            <a:ext cx="5440680" cy="502920"/>
          </a:xfrm>
          <a:prstGeom prst="roundRect">
            <a:avLst>
              <a:gd name="adj" fmla="val 14545"/>
            </a:avLst>
          </a:prstGeom>
          <a:solidFill>
            <a:srgbClr val="168C8C"/>
          </a:solidFill>
          <a:ln w="12700">
            <a:solidFill>
              <a:srgbClr val="168C8C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19202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 LLM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92024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Agent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2331720"/>
            <a:ext cx="5212080" cy="713232"/>
          </a:xfrm>
          <a:prstGeom prst="roundRect">
            <a:avLst>
              <a:gd name="adj" fmla="val 3846"/>
            </a:avLst>
          </a:prstGeom>
          <a:solidFill>
            <a:srgbClr val="F0F3F6"/>
          </a:solidFill>
          <a:ln w="12700">
            <a:solidFill>
              <a:srgbClr val="F0F3F6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897880" y="2331720"/>
            <a:ext cx="5440680" cy="713232"/>
          </a:xfrm>
          <a:prstGeom prst="roundRect">
            <a:avLst>
              <a:gd name="adj" fmla="val 3846"/>
            </a:avLst>
          </a:prstGeom>
          <a:solidFill>
            <a:srgbClr val="EAF7F4"/>
          </a:solidFill>
          <a:ln w="12700">
            <a:solidFill>
              <a:srgbClr val="EAF7F4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47802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720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主要產生文字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47802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720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可能採取實際行動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3090672"/>
            <a:ext cx="5212080" cy="71323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97880" y="3090672"/>
            <a:ext cx="5440680" cy="71323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323697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720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通常是單次回答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126480" y="323697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720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多步驟、持續決策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3849624"/>
            <a:ext cx="5212080" cy="713232"/>
          </a:xfrm>
          <a:prstGeom prst="roundRect">
            <a:avLst>
              <a:gd name="adj" fmla="val 3846"/>
            </a:avLst>
          </a:prstGeom>
          <a:solidFill>
            <a:srgbClr val="F0F3F6"/>
          </a:solidFill>
          <a:ln w="12700">
            <a:solidFill>
              <a:srgbClr val="F0F3F6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97880" y="3849624"/>
            <a:ext cx="5440680" cy="713232"/>
          </a:xfrm>
          <a:prstGeom prst="roundRect">
            <a:avLst>
              <a:gd name="adj" fmla="val 3846"/>
            </a:avLst>
          </a:prstGeom>
          <a:solidFill>
            <a:srgbClr val="EAF7F4"/>
          </a:solidFill>
          <a:ln w="12700">
            <a:solidFill>
              <a:srgbClr val="EAF7F4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39959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720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偏見較容易在輸出中被看見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126480" y="39959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66A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偏見可能藏在搜尋、排序與工具選擇中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85800" y="4608576"/>
            <a:ext cx="5212080" cy="71323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97880" y="4608576"/>
            <a:ext cx="5440680" cy="71323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7548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720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影響多半停留在資訊層面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47548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66A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可能影響工作、金融、醫療與公共服務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判斷單位從「一句回答」變成「整條決策路徑」。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D8DEE5"/>
            </a:solidFill>
            <a:prstDash val="solid"/>
            <a:headEnd type="none"/>
            <a:tailEnd type="none"/>
          </a:ln>
        </p:spPr>
      </p:sp>
      <p:sp>
        <p:nvSpPr>
          <p:cNvPr id="27" name="Text 25"/>
          <p:cNvSpPr txBox="1"/>
          <p:nvPr/>
        </p:nvSpPr>
        <p:spPr>
          <a:xfrm>
            <a:off x="594360" y="6556248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ANATOMY</a:t>
            </a:r>
            <a:endParaRPr lang="en-US" sz="800" dirty="0"/>
          </a:p>
        </p:txBody>
      </p:sp>
      <p:sp>
        <p:nvSpPr>
          <p:cNvPr id="28" name="Text 26"/>
          <p:cNvSpPr txBox="1"/>
          <p:nvPr/>
        </p:nvSpPr>
        <p:spPr>
          <a:xfrm>
            <a:off x="1110996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10789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來源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的偏見：六個相互連結的層次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12648" y="126187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不要只問「模型有沒有偏見」，要問偏見在哪個環節被引入、被放大、被固化。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920240"/>
            <a:ext cx="3200400" cy="1143000"/>
          </a:xfrm>
          <a:prstGeom prst="roundRect">
            <a:avLst>
              <a:gd name="adj" fmla="val 11200"/>
            </a:avLst>
          </a:prstGeom>
          <a:solidFill>
            <a:srgbClr val="F7F8FA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084832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99032" y="206654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模型偏見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871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刻板印象被當成合理判斷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1920240"/>
            <a:ext cx="3200400" cy="1143000"/>
          </a:xfrm>
          <a:prstGeom prst="roundRect">
            <a:avLst>
              <a:gd name="adj" fmla="val 11200"/>
            </a:avLst>
          </a:prstGeom>
          <a:solidFill>
            <a:srgbClr val="F7F8FA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17720" y="2084832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48072" y="206654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目標與指令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4871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「適合」未定義；效率壓過公平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83880" y="1920240"/>
            <a:ext cx="3200400" cy="1143000"/>
          </a:xfrm>
          <a:prstGeom prst="roundRect">
            <a:avLst>
              <a:gd name="adj" fmla="val 11200"/>
            </a:avLst>
          </a:prstGeom>
          <a:solidFill>
            <a:srgbClr val="F7F8FA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66760" y="2084832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897112" y="206654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資料與檢索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24871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曝光度高的資料被過度採用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85800" y="3474720"/>
            <a:ext cx="3200400" cy="1143000"/>
          </a:xfrm>
          <a:prstGeom prst="roundRect">
            <a:avLst>
              <a:gd name="adj" fmla="val 11200"/>
            </a:avLst>
          </a:prstGeom>
          <a:solidFill>
            <a:srgbClr val="F7F8FA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3639312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399032" y="362102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工具與流程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0416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查詢詞、資料庫、評分器都會偏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434840" y="3474720"/>
            <a:ext cx="3200400" cy="1143000"/>
          </a:xfrm>
          <a:prstGeom prst="roundRect">
            <a:avLst>
              <a:gd name="adj" fmla="val 11200"/>
            </a:avLst>
          </a:prstGeom>
          <a:solidFill>
            <a:srgbClr val="F7F8FA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17720" y="3639312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148072" y="362102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記憶與回饋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617720" y="40416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一次推測變事實，形成循環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83880" y="3474720"/>
            <a:ext cx="3200400" cy="1143000"/>
          </a:xfrm>
          <a:prstGeom prst="roundRect">
            <a:avLst>
              <a:gd name="adj" fmla="val 11200"/>
            </a:avLst>
          </a:prstGeom>
          <a:solidFill>
            <a:srgbClr val="FFF0ED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66760" y="3639312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6A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897112" y="362102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多代理人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366760" y="40416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彼此引用，形成假共識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05840" y="5486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66A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偏見不只是一個模型問題，而是一個系統問題。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D8DEE5"/>
            </a:solidFill>
            <a:prstDash val="solid"/>
            <a:headEnd type="none"/>
            <a:tailEnd type="none"/>
          </a:ln>
        </p:spPr>
      </p:sp>
      <p:sp>
        <p:nvSpPr>
          <p:cNvPr id="31" name="Text 29"/>
          <p:cNvSpPr txBox="1"/>
          <p:nvPr/>
        </p:nvSpPr>
        <p:spPr>
          <a:xfrm>
            <a:off x="594360" y="6556248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BIAS SOURCES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1110996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10789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來源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前四層：偏見如何進入 Agent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12648" y="126187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偏見可能在「定義任務」以前就已經被寫進系統。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828800"/>
            <a:ext cx="2606040" cy="32004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1993392"/>
            <a:ext cx="164592" cy="164592"/>
          </a:xfrm>
          <a:prstGeom prst="ellipse">
            <a:avLst/>
          </a:prstGeom>
          <a:solidFill>
            <a:srgbClr val="E66A5D"/>
          </a:solidFill>
          <a:ln w="12700">
            <a:solidFill>
              <a:srgbClr val="E66A5D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24712" y="1947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模型偏見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31720"/>
            <a:ext cx="2240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訓練資料裡的性別、職業、族群與文化刻板印象。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常見關聯，不等於合理判斷。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56432" y="1828800"/>
            <a:ext cx="2606040" cy="32004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21024" y="1993392"/>
            <a:ext cx="164592" cy="164592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95344" y="1947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目標與指令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639312" y="2331720"/>
            <a:ext cx="2240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「找最適合的人」中的「適合」沒有定義。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使用者的假設可能被 Agent 直接繼承。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27064" y="1828800"/>
            <a:ext cx="2606040" cy="3200400"/>
          </a:xfrm>
          <a:prstGeom prst="roundRect">
            <a:avLst>
              <a:gd name="adj" fmla="val 4912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91656" y="1993392"/>
            <a:ext cx="164592" cy="164592"/>
          </a:xfrm>
          <a:prstGeom prst="ellipse">
            <a:avLst/>
          </a:prstGeom>
          <a:solidFill>
            <a:srgbClr val="168C8C"/>
          </a:solidFill>
          <a:ln w="12700">
            <a:solidFill>
              <a:srgbClr val="168C8C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65976" y="1947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資料與檢索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9944" y="2331720"/>
            <a:ext cx="22402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搜尋結果不是完整世界。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資料稀少、曝光不足，容易被誤判成能力不足。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997696" y="1828800"/>
            <a:ext cx="2514600" cy="32004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62288" y="1993392"/>
            <a:ext cx="164592" cy="164592"/>
          </a:xfrm>
          <a:prstGeom prst="ellipse">
            <a:avLst/>
          </a:prstGeom>
          <a:solidFill>
            <a:srgbClr val="17324D"/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436608" y="19476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工具與流程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180576" y="2331720"/>
            <a:ext cx="2148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查詢詞、資料庫、評分工具的選擇，會改變誰被看見。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中立工具串接後也可能累積偏差。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5532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設計提醒：先把「成功」與「公平」都寫成可檢查的要求。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D8DEE5"/>
            </a:solidFill>
            <a:prstDash val="solid"/>
            <a:headEnd type="none"/>
            <a:tailEnd type="none"/>
          </a:ln>
        </p:spPr>
      </p:sp>
      <p:sp>
        <p:nvSpPr>
          <p:cNvPr id="23" name="Text 21"/>
          <p:cNvSpPr txBox="1"/>
          <p:nvPr/>
        </p:nvSpPr>
        <p:spPr>
          <a:xfrm>
            <a:off x="594360" y="6556248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BIAS SOURCES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110996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10789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來源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後兩層：偏見如何被放大與固化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12648" y="126187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 Agent 能記住、回饋、互相引用，偏見就可能變成系統慣性。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1828800"/>
            <a:ext cx="4983480" cy="3246120"/>
          </a:xfrm>
          <a:prstGeom prst="roundRect">
            <a:avLst>
              <a:gd name="adj" fmla="val 3944"/>
            </a:avLst>
          </a:prstGeom>
          <a:solidFill>
            <a:srgbClr val="FFF0ED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87552" y="1993392"/>
            <a:ext cx="164592" cy="164592"/>
          </a:xfrm>
          <a:prstGeom prst="ellipse">
            <a:avLst/>
          </a:prstGeom>
          <a:solidFill>
            <a:srgbClr val="E66A5D"/>
          </a:solidFill>
          <a:ln w="12700">
            <a:solidFill>
              <a:srgbClr val="E66A5D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61872" y="194767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記憶與回饋偏見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331720"/>
            <a:ext cx="46177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一次「資料不足」的推測，被寫入記憶，下一輪便被當成事實。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越常選擇某類人 → 系統越認為這類人更適合 → 下一輪更常選擇同類人。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82512" y="1828800"/>
            <a:ext cx="4983480" cy="3246120"/>
          </a:xfrm>
          <a:prstGeom prst="roundRect">
            <a:avLst>
              <a:gd name="adj" fmla="val 3944"/>
            </a:avLst>
          </a:prstGeom>
          <a:solidFill>
            <a:srgbClr val="EAF7F4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47104" y="1993392"/>
            <a:ext cx="164592" cy="164592"/>
          </a:xfrm>
          <a:prstGeom prst="ellipse">
            <a:avLst/>
          </a:prstGeom>
          <a:solidFill>
            <a:srgbClr val="168C8C"/>
          </a:solidFill>
          <a:ln w="12700">
            <a:solidFill>
              <a:srgbClr val="168C8C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21424" y="194767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多代理人偏見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565392" y="2331720"/>
            <a:ext cx="46177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多個 Agent 彼此引用，不代表偏見會消失。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評審 Agent 可能與執行 Agent 共享相同資料、模型與盲點，形成「彼此同意」的假共識。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011680" y="5532120"/>
            <a:ext cx="7315200" cy="0"/>
          </a:xfrm>
          <a:prstGeom prst="line">
            <a:avLst/>
          </a:prstGeom>
          <a:noFill/>
          <a:ln w="25400">
            <a:solidFill>
              <a:srgbClr val="E66A5D"/>
            </a:solidFill>
            <a:prstDash val="solid"/>
            <a:headEnd type="none"/>
            <a:tailEnd type="none"/>
          </a:ln>
        </p:spPr>
      </p:sp>
      <p:sp>
        <p:nvSpPr>
          <p:cNvPr id="14" name="Shape 12"/>
          <p:cNvSpPr/>
          <p:nvPr/>
        </p:nvSpPr>
        <p:spPr>
          <a:xfrm>
            <a:off x="9217152" y="5431536"/>
            <a:ext cx="201168" cy="201168"/>
          </a:xfrm>
          <a:prstGeom prst="chevron">
            <a:avLst/>
          </a:prstGeom>
          <a:solidFill>
            <a:srgbClr val="E66A5D"/>
          </a:solidFill>
          <a:ln w="12700">
            <a:solidFill>
              <a:srgbClr val="E66A5D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566928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記憶讓過去影響未來；多代理人讓單一盲點看起來像共識。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D8DEE5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 txBox="1"/>
          <p:nvPr/>
        </p:nvSpPr>
        <p:spPr>
          <a:xfrm>
            <a:off x="594360" y="6556248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BIAS SOURCES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1110996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10789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案例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案例：履歷篩選 Agent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12648" y="126187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500 份履歷 → 20 位 AI 工程師候選人：偏見不是一句話，而是一條鏈。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2148840"/>
            <a:ext cx="1828800" cy="2148840"/>
          </a:xfrm>
          <a:prstGeom prst="roundRect">
            <a:avLst>
              <a:gd name="adj" fmla="val 7500"/>
            </a:avLst>
          </a:prstGeom>
          <a:solidFill>
            <a:srgbClr val="214B66"/>
          </a:solidFill>
          <a:ln w="12700">
            <a:solidFill>
              <a:srgbClr val="214B66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3591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DF4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定義優秀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73552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5E4E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學校、公司、工作連續性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532888" y="3200400"/>
            <a:ext cx="310896" cy="0"/>
          </a:xfrm>
          <a:prstGeom prst="line">
            <a:avLst/>
          </a:prstGeom>
          <a:noFill/>
          <a:ln w="25400">
            <a:solidFill>
              <a:srgbClr val="E66A5D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2734056" y="3099816"/>
            <a:ext cx="201168" cy="201168"/>
          </a:xfrm>
          <a:prstGeom prst="chevron">
            <a:avLst/>
          </a:prstGeom>
          <a:solidFill>
            <a:srgbClr val="E66A5D"/>
          </a:solidFill>
          <a:ln w="12700">
            <a:solidFill>
              <a:srgbClr val="E66A5D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26080" y="2148840"/>
            <a:ext cx="1828800" cy="2148840"/>
          </a:xfrm>
          <a:prstGeom prst="roundRect">
            <a:avLst>
              <a:gd name="adj" fmla="val 7500"/>
            </a:avLst>
          </a:prstGeom>
          <a:solidFill>
            <a:srgbClr val="214B66"/>
          </a:solidFill>
          <a:ln w="12700">
            <a:solidFill>
              <a:srgbClr val="214B66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090672" y="23591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DF4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090672" y="274320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補充資料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090672" y="3273552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5E4E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搜尋網路曝光與履歷缺口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00600" y="3200400"/>
            <a:ext cx="310896" cy="0"/>
          </a:xfrm>
          <a:prstGeom prst="line">
            <a:avLst/>
          </a:prstGeom>
          <a:noFill/>
          <a:ln w="25400">
            <a:solidFill>
              <a:srgbClr val="E66A5D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5001768" y="3099816"/>
            <a:ext cx="201168" cy="201168"/>
          </a:xfrm>
          <a:prstGeom prst="chevron">
            <a:avLst/>
          </a:prstGeom>
          <a:solidFill>
            <a:srgbClr val="E66A5D"/>
          </a:solidFill>
          <a:ln w="12700">
            <a:solidFill>
              <a:srgbClr val="E66A5D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93792" y="2148840"/>
            <a:ext cx="1828800" cy="2148840"/>
          </a:xfrm>
          <a:prstGeom prst="roundRect">
            <a:avLst>
              <a:gd name="adj" fmla="val 7500"/>
            </a:avLst>
          </a:prstGeom>
          <a:solidFill>
            <a:srgbClr val="214B66"/>
          </a:solidFill>
          <a:ln w="12700">
            <a:solidFill>
              <a:srgbClr val="214B66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58384" y="23591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DF4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358384" y="274320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形成推測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358384" y="3273552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5E4E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育兒中斷、非典型背景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068312" y="3200400"/>
            <a:ext cx="310896" cy="0"/>
          </a:xfrm>
          <a:prstGeom prst="line">
            <a:avLst/>
          </a:prstGeom>
          <a:noFill/>
          <a:ln w="25400">
            <a:solidFill>
              <a:srgbClr val="E66A5D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7269480" y="3099816"/>
            <a:ext cx="201168" cy="201168"/>
          </a:xfrm>
          <a:prstGeom prst="chevron">
            <a:avLst/>
          </a:prstGeom>
          <a:solidFill>
            <a:srgbClr val="E66A5D"/>
          </a:solidFill>
          <a:ln w="12700">
            <a:solidFill>
              <a:srgbClr val="E66A5D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61504" y="2148840"/>
            <a:ext cx="1828800" cy="2148840"/>
          </a:xfrm>
          <a:prstGeom prst="roundRect">
            <a:avLst>
              <a:gd name="adj" fmla="val 7500"/>
            </a:avLst>
          </a:prstGeom>
          <a:solidFill>
            <a:srgbClr val="8D3D48"/>
          </a:solidFill>
          <a:ln w="12700">
            <a:solidFill>
              <a:srgbClr val="8D3D48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626096" y="23591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DF4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626096" y="274320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排序決策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626096" y="3273552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5E4E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資料不足被當成能力不足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336024" y="3200400"/>
            <a:ext cx="310896" cy="0"/>
          </a:xfrm>
          <a:prstGeom prst="line">
            <a:avLst/>
          </a:prstGeom>
          <a:noFill/>
          <a:ln w="25400">
            <a:solidFill>
              <a:srgbClr val="E66A5D"/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9537192" y="3099816"/>
            <a:ext cx="201168" cy="201168"/>
          </a:xfrm>
          <a:prstGeom prst="chevron">
            <a:avLst/>
          </a:prstGeom>
          <a:solidFill>
            <a:srgbClr val="E66A5D"/>
          </a:solidFill>
          <a:ln w="12700">
            <a:solidFill>
              <a:srgbClr val="E66A5D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729216" y="2148840"/>
            <a:ext cx="1828800" cy="2148840"/>
          </a:xfrm>
          <a:prstGeom prst="roundRect">
            <a:avLst>
              <a:gd name="adj" fmla="val 7500"/>
            </a:avLst>
          </a:prstGeom>
          <a:solidFill>
            <a:srgbClr val="214B66"/>
          </a:solidFill>
          <a:ln w="12700">
            <a:solidFill>
              <a:srgbClr val="214B66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893808" y="235915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DF4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893808" y="2743200"/>
            <a:ext cx="1481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固化結果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9893808" y="3273552"/>
            <a:ext cx="1481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D5E4E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排序存入系統，成為下一輪依據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14400" y="507492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每一個局部判斷都「看似合理」，串起來卻可能排除同一批人。</a:t>
            </a:r>
            <a:endParaRPr lang="en-US" sz="2100" dirty="0"/>
          </a:p>
        </p:txBody>
      </p:sp>
      <p:sp>
        <p:nvSpPr>
          <p:cNvPr id="34" name="Shape 32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D8DEE5"/>
            </a:solidFill>
            <a:prstDash val="solid"/>
            <a:headEnd type="none"/>
            <a:tailEnd type="none"/>
          </a:ln>
        </p:spPr>
      </p:sp>
      <p:sp>
        <p:nvSpPr>
          <p:cNvPr id="35" name="Text 33"/>
          <p:cNvSpPr txBox="1"/>
          <p:nvPr/>
        </p:nvSpPr>
        <p:spPr>
          <a:xfrm>
            <a:off x="594360" y="6556248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CASE STUDY</a:t>
            </a:r>
            <a:endParaRPr lang="en-US" sz="800" dirty="0"/>
          </a:p>
        </p:txBody>
      </p:sp>
      <p:sp>
        <p:nvSpPr>
          <p:cNvPr id="36" name="Text 34"/>
          <p:cNvSpPr txBox="1"/>
          <p:nvPr/>
        </p:nvSpPr>
        <p:spPr>
          <a:xfrm>
            <a:off x="1110996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10789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案例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放大的關鍵：資料不足 ≠ 能力不足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12648" y="126187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很容易把「看不見」誤讀成「不存在」。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8288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原始履歷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840480" y="18288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搜尋與排序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12280" y="18288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系統記憶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555480" y="18288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下一輪決策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2240280"/>
            <a:ext cx="233172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256032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66A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非典型背景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E66A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網路曝光少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E66A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職涯有中斷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246120" y="3200400"/>
            <a:ext cx="457200" cy="0"/>
          </a:xfrm>
          <a:prstGeom prst="line">
            <a:avLst/>
          </a:prstGeom>
          <a:noFill/>
          <a:ln w="25400">
            <a:solidFill>
              <a:srgbClr val="E66A5D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3593592" y="3099816"/>
            <a:ext cx="201168" cy="201168"/>
          </a:xfrm>
          <a:prstGeom prst="chevron">
            <a:avLst/>
          </a:prstGeom>
          <a:solidFill>
            <a:srgbClr val="E66A5D"/>
          </a:solidFill>
          <a:ln w="12700">
            <a:solidFill>
              <a:srgbClr val="E66A5D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0" y="2240280"/>
            <a:ext cx="233172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60520" y="265176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資料不足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↓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能力評分下降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263640" y="3200400"/>
            <a:ext cx="457200" cy="0"/>
          </a:xfrm>
          <a:prstGeom prst="line">
            <a:avLst/>
          </a:prstGeom>
          <a:noFill/>
          <a:ln w="25400">
            <a:solidFill>
              <a:srgbClr val="E66A5D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6611112" y="3099816"/>
            <a:ext cx="201168" cy="201168"/>
          </a:xfrm>
          <a:prstGeom prst="chevron">
            <a:avLst/>
          </a:prstGeom>
          <a:solidFill>
            <a:srgbClr val="E66A5D"/>
          </a:solidFill>
          <a:ln w="12700">
            <a:solidFill>
              <a:srgbClr val="E66A5D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2240280"/>
            <a:ext cx="233172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68896" y="2560320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排序結果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被保存成</a:t>
            </a:r>
            <a:endParaRPr lang="en-US" sz="1900" dirty="0"/>
          </a:p>
          <a:p>
            <a:pPr algn="ctr" indent="0" marL="0">
              <a:buNone/>
            </a:pPr>
            <a:r>
              <a:rPr lang="en-US" sz="19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「成功模式」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9281160" y="3200400"/>
            <a:ext cx="457200" cy="0"/>
          </a:xfrm>
          <a:prstGeom prst="line">
            <a:avLst/>
          </a:prstGeom>
          <a:noFill/>
          <a:ln w="25400">
            <a:solidFill>
              <a:srgbClr val="E66A5D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9628632" y="3099816"/>
            <a:ext cx="201168" cy="201168"/>
          </a:xfrm>
          <a:prstGeom prst="chevron">
            <a:avLst/>
          </a:prstGeom>
          <a:solidFill>
            <a:srgbClr val="E66A5D"/>
          </a:solidFill>
          <a:ln w="12700">
            <a:solidFill>
              <a:srgbClr val="E66A5D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875520" y="2240280"/>
            <a:ext cx="1508760" cy="1965960"/>
          </a:xfrm>
          <a:prstGeom prst="roundRect">
            <a:avLst>
              <a:gd name="adj" fmla="val 8485"/>
            </a:avLst>
          </a:prstGeom>
          <a:solidFill>
            <a:srgbClr val="FFF0ED"/>
          </a:solidFill>
          <a:ln w="12700">
            <a:solidFill>
              <a:srgbClr val="E66A5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104120" y="274320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66A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偏差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E66A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累積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51663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要審計的是整條路徑：輸入 → 檢索 → 推論 → 排序 → 記憶 → 行動。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D8DEE5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 txBox="1"/>
          <p:nvPr/>
        </p:nvSpPr>
        <p:spPr>
          <a:xfrm>
            <a:off x="594360" y="6556248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CASE STUDY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1110996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10789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緩解框架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三層防線：事前、事中、事後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12648" y="126187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去偏見不是 Prompt 裡的一句提醒，而是整個 Agent 系統的工程設計。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1143000" cy="868680"/>
          </a:xfrm>
          <a:prstGeom prst="roundRect">
            <a:avLst>
              <a:gd name="adj" fmla="val 13684"/>
            </a:avLst>
          </a:prstGeom>
          <a:solidFill>
            <a:srgbClr val="DDF4EF"/>
          </a:solidFill>
          <a:ln w="12700">
            <a:solidFill>
              <a:srgbClr val="DDF4EF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02996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事前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148840" y="1828800"/>
            <a:ext cx="2834640" cy="868680"/>
          </a:xfrm>
          <a:prstGeom prst="roundRect">
            <a:avLst>
              <a:gd name="adj" fmla="val 13684"/>
            </a:avLst>
          </a:prstGeom>
          <a:solidFill>
            <a:srgbClr val="168C8C"/>
          </a:solidFill>
          <a:ln w="12700">
            <a:solidFill>
              <a:srgbClr val="168C8C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59152" y="2029968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設計公平的任務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49240" y="2002536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定義標準、辨識代理變數、預想受影響群體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127248"/>
            <a:ext cx="1143000" cy="868680"/>
          </a:xfrm>
          <a:prstGeom prst="roundRect">
            <a:avLst>
              <a:gd name="adj" fmla="val 13684"/>
            </a:avLst>
          </a:prstGeom>
          <a:solidFill>
            <a:srgbClr val="FFF3D9"/>
          </a:solidFill>
          <a:ln w="12700">
            <a:solidFill>
              <a:srgbClr val="FFF3D9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332841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B4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事中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148840" y="3127248"/>
            <a:ext cx="2834640" cy="868680"/>
          </a:xfrm>
          <a:prstGeom prst="roundRect">
            <a:avLst>
              <a:gd name="adj" fmla="val 13684"/>
            </a:avLst>
          </a:prstGeom>
          <a:solidFill>
            <a:srgbClr val="F0B44D"/>
          </a:solidFill>
          <a:ln w="12700">
            <a:solidFill>
              <a:srgbClr val="F0B44D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59152" y="3328416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限制與監督決策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349240" y="3300984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留痕、分權、交叉檢查、高風險人工核准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77240" y="4425696"/>
            <a:ext cx="1143000" cy="868680"/>
          </a:xfrm>
          <a:prstGeom prst="roundRect">
            <a:avLst>
              <a:gd name="adj" fmla="val 13684"/>
            </a:avLst>
          </a:prstGeom>
          <a:solidFill>
            <a:srgbClr val="FFF0ED"/>
          </a:solidFill>
          <a:ln w="12700">
            <a:solidFill>
              <a:srgbClr val="FFF0ED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62686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66A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事後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148840" y="4425696"/>
            <a:ext cx="2834640" cy="868680"/>
          </a:xfrm>
          <a:prstGeom prst="roundRect">
            <a:avLst>
              <a:gd name="adj" fmla="val 13684"/>
            </a:avLst>
          </a:prstGeom>
          <a:solidFill>
            <a:srgbClr val="E66A5D"/>
          </a:solidFill>
          <a:ln w="12700">
            <a:solidFill>
              <a:srgbClr val="E66A5D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59152" y="4626864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評測與持續監控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349240" y="4599432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群體指標、配對測試、多輪測試、申訴覆核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58521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系統責任 = 設計選擇 + 執行控制 + 事後證據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D8DEE5"/>
            </a:solidFill>
            <a:prstDash val="solid"/>
            <a:headEnd type="none"/>
            <a:tailEnd type="none"/>
          </a:ln>
        </p:spPr>
      </p:sp>
      <p:sp>
        <p:nvSpPr>
          <p:cNvPr id="22" name="Text 20"/>
          <p:cNvSpPr txBox="1"/>
          <p:nvPr/>
        </p:nvSpPr>
        <p:spPr>
          <a:xfrm>
            <a:off x="594360" y="6556248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MITIGATION FRAMEWORK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10996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10789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事前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事前：把公平寫進任務設計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12648" y="126187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先決定「什麼算好」，再讓 Agent 開始找答案。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146304" cy="146304"/>
          </a:xfrm>
          <a:prstGeom prst="ellipse">
            <a:avLst/>
          </a:prstGeom>
          <a:solidFill>
            <a:srgbClr val="168C8C"/>
          </a:solidFill>
          <a:ln w="12700">
            <a:solidFill>
              <a:srgbClr val="168C8C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180136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0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明確定義評估標準：區分必要條件與代理變數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606040"/>
            <a:ext cx="146304" cy="146304"/>
          </a:xfrm>
          <a:prstGeom prst="ellipse">
            <a:avLst/>
          </a:prstGeom>
          <a:solidFill>
            <a:srgbClr val="168C8C"/>
          </a:solidFill>
          <a:ln w="12700">
            <a:solidFill>
              <a:srgbClr val="168C8C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248716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0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避免以姓名、性別、年齡或居住地推測能力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291840"/>
            <a:ext cx="146304" cy="146304"/>
          </a:xfrm>
          <a:prstGeom prst="ellipse">
            <a:avLst/>
          </a:prstGeom>
          <a:solidFill>
            <a:srgbClr val="168C8C"/>
          </a:solidFill>
          <a:ln w="12700">
            <a:solidFill>
              <a:srgbClr val="168C8C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34440" y="317296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0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在系統提示加入公平性與不確定性要求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14400" y="3977640"/>
            <a:ext cx="146304" cy="146304"/>
          </a:xfrm>
          <a:prstGeom prst="ellipse">
            <a:avLst/>
          </a:prstGeom>
          <a:solidFill>
            <a:srgbClr val="168C8C"/>
          </a:solidFill>
          <a:ln w="12700">
            <a:solidFill>
              <a:srgbClr val="168C8C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234440" y="385876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0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先分析哪些群體可能受到不利影響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458200" y="1920240"/>
            <a:ext cx="2560320" cy="2514600"/>
          </a:xfrm>
          <a:prstGeom prst="roundRect">
            <a:avLst>
              <a:gd name="adj" fmla="val 7273"/>
            </a:avLst>
          </a:prstGeom>
          <a:solidFill>
            <a:srgbClr val="17324D"/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823960" y="22677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F4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任務契約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759952" y="278892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評估標準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不可使用的代理變數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需要人工介入的情況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55778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問題不是「Prompt 夠不夠好」，而是「任務是否可被公平地執行」。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D8DEE5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 txBox="1"/>
          <p:nvPr/>
        </p:nvSpPr>
        <p:spPr>
          <a:xfrm>
            <a:off x="594360" y="6556248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MITIGATION FRAMEWORK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10996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10789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事中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事中：限制 Agent 的決策與行動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12648" y="126187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讓每個重要選擇都能被看見、被挑戰、被攔下。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4983480" cy="1188720"/>
          </a:xfrm>
          <a:prstGeom prst="roundRect">
            <a:avLst>
              <a:gd name="adj" fmla="val 10769"/>
            </a:avLst>
          </a:prstGeom>
          <a:solidFill>
            <a:srgbClr val="F7F8FA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1832" y="1993392"/>
            <a:ext cx="164592" cy="164592"/>
          </a:xfrm>
          <a:prstGeom prst="ellipse">
            <a:avLst/>
          </a:prstGeom>
          <a:solidFill>
            <a:srgbClr val="168C8C"/>
          </a:solidFill>
          <a:ln w="12700">
            <a:solidFill>
              <a:srgbClr val="168C8C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16152" y="194767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可觀測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33172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保留工具呼叫、資料來源與推理軌跡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55080" y="1828800"/>
            <a:ext cx="4983480" cy="1188720"/>
          </a:xfrm>
          <a:prstGeom prst="roundRect">
            <a:avLst>
              <a:gd name="adj" fmla="val 10769"/>
            </a:avLst>
          </a:prstGeom>
          <a:solidFill>
            <a:srgbClr val="F7F8FA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19672" y="1993392"/>
            <a:ext cx="164592" cy="164592"/>
          </a:xfrm>
          <a:prstGeom prst="ellipse">
            <a:avLst/>
          </a:prstGeom>
          <a:solidFill>
            <a:srgbClr val="168C8C"/>
          </a:solidFill>
          <a:ln w="12700">
            <a:solidFill>
              <a:srgbClr val="168C8C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93992" y="194767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可分權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3172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搜尋、評分、決策、執行權限分開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77240" y="3429000"/>
            <a:ext cx="4983480" cy="1188720"/>
          </a:xfrm>
          <a:prstGeom prst="roundRect">
            <a:avLst>
              <a:gd name="adj" fmla="val 10769"/>
            </a:avLst>
          </a:prstGeom>
          <a:solidFill>
            <a:srgbClr val="F7F8FA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41832" y="3593592"/>
            <a:ext cx="164592" cy="164592"/>
          </a:xfrm>
          <a:prstGeom prst="ellipse">
            <a:avLst/>
          </a:prstGeom>
          <a:solidFill>
            <a:srgbClr val="168C8C"/>
          </a:solidFill>
          <a:ln w="12700">
            <a:solidFill>
              <a:srgbClr val="168C8C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216152" y="354787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可質疑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" y="393192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要求反例、替代解釋與不確定性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55080" y="3429000"/>
            <a:ext cx="4983480" cy="1188720"/>
          </a:xfrm>
          <a:prstGeom prst="roundRect">
            <a:avLst>
              <a:gd name="adj" fmla="val 10769"/>
            </a:avLst>
          </a:prstGeom>
          <a:solidFill>
            <a:srgbClr val="FFF0ED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19672" y="3593592"/>
            <a:ext cx="164592" cy="164592"/>
          </a:xfrm>
          <a:prstGeom prst="ellipse">
            <a:avLst/>
          </a:prstGeom>
          <a:solidFill>
            <a:srgbClr val="E66A5D"/>
          </a:solidFill>
          <a:ln w="12700">
            <a:solidFill>
              <a:srgbClr val="E66A5D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93992" y="354787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可覆核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3931920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獨立模型/評審交叉檢查；高風險行動人工核准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55778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66A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高風險、不可逆的行動：預設「人先批准」，不是「事後通知」。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D8DEE5"/>
            </a:solidFill>
            <a:prstDash val="solid"/>
            <a:headEnd type="none"/>
            <a:tailEnd type="none"/>
          </a:ln>
        </p:spPr>
      </p:sp>
      <p:sp>
        <p:nvSpPr>
          <p:cNvPr id="23" name="Text 21"/>
          <p:cNvSpPr txBox="1"/>
          <p:nvPr/>
        </p:nvSpPr>
        <p:spPr>
          <a:xfrm>
            <a:off x="594360" y="6556248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MITIGATION FRAMEWORK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110996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10789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事後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事後：把偏見變成可量測、可追蹤的訊號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12648" y="126187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評估單次回答不夠；要測整個 Agent 在多輪執行後的行為。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233172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22199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651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群體差異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24612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通過率、錯誤率、資源分配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584448" y="1965960"/>
            <a:ext cx="2331720" cy="2194560"/>
          </a:xfrm>
          <a:prstGeom prst="roundRect">
            <a:avLst>
              <a:gd name="adj" fmla="val 5833"/>
            </a:avLst>
          </a:prstGeom>
          <a:solidFill>
            <a:srgbClr val="FFF3D9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67328" y="222199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767328" y="2651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配對測試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767328" y="324612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只改變性別、姓名或族群線索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45936" y="1965960"/>
            <a:ext cx="2331720" cy="219456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28816" y="222199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528816" y="2651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多輪測試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528816" y="324612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觀察記憶與回饋是否累積偏差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107424" y="1965960"/>
            <a:ext cx="2331720" cy="2194560"/>
          </a:xfrm>
          <a:prstGeom prst="roundRect">
            <a:avLst>
              <a:gd name="adj" fmla="val 5833"/>
            </a:avLst>
          </a:prstGeom>
          <a:solidFill>
            <a:srgbClr val="FFF0ED"/>
          </a:solidFill>
          <a:ln w="12700">
            <a:solidFill>
              <a:srgbClr val="D8DEE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90304" y="2221992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66A5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290304" y="26517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治理機制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9290304" y="3246120"/>
            <a:ext cx="187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申訴、覆核、決策回復與責任紀錄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50749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建立基線 → 反覆測試 → 設定門檻 → 觸發覆核 → 修正並留證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D8DEE5"/>
            </a:solidFill>
            <a:prstDash val="solid"/>
            <a:headEnd type="none"/>
            <a:tailEnd type="none"/>
          </a:ln>
        </p:spPr>
      </p:sp>
      <p:sp>
        <p:nvSpPr>
          <p:cNvPr id="23" name="Text 21"/>
          <p:cNvSpPr txBox="1"/>
          <p:nvPr/>
        </p:nvSpPr>
        <p:spPr>
          <a:xfrm>
            <a:off x="594360" y="6556248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MITIGATION FRAMEWORK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110996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10789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限制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去偏見本身也有兩難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12648" y="126187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工程控制可以降低風險，但不能替人決定所有價值取捨。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14400" y="1874520"/>
            <a:ext cx="146304" cy="146304"/>
          </a:xfrm>
          <a:prstGeom prst="ellipse">
            <a:avLst/>
          </a:prstGeom>
          <a:solidFill>
            <a:srgbClr val="E66A5D"/>
          </a:solidFill>
          <a:ln w="12700">
            <a:solidFill>
              <a:srgbClr val="E66A5D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34440" y="1737360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0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公平沒有唯一的數學定義；不同指標可能互相衝突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587752"/>
            <a:ext cx="146304" cy="146304"/>
          </a:xfrm>
          <a:prstGeom prst="ellipse">
            <a:avLst/>
          </a:prstGeom>
          <a:solidFill>
            <a:srgbClr val="E66A5D"/>
          </a:solidFill>
          <a:ln w="12700">
            <a:solidFill>
              <a:srgbClr val="E66A5D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2450592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0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移除敏感欄位，不代表其他欄位不會成為代理變數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300984"/>
            <a:ext cx="146304" cy="146304"/>
          </a:xfrm>
          <a:prstGeom prst="ellipse">
            <a:avLst/>
          </a:prstGeom>
          <a:solidFill>
            <a:srgbClr val="E66A5D"/>
          </a:solidFill>
          <a:ln w="12700">
            <a:solidFill>
              <a:srgbClr val="E66A5D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234440" y="3163824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0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要求模型完全「看不見差異」，有時反而無法補償既有不平等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14400" y="4014216"/>
            <a:ext cx="146304" cy="146304"/>
          </a:xfrm>
          <a:prstGeom prst="ellipse">
            <a:avLst/>
          </a:prstGeom>
          <a:solidFill>
            <a:srgbClr val="E66A5D"/>
          </a:solidFill>
          <a:ln w="12700">
            <a:solidFill>
              <a:srgbClr val="E66A5D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234440" y="387705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720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多一個評審 Agent，不代表一定更公平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144000" y="1828800"/>
            <a:ext cx="1920240" cy="3108960"/>
          </a:xfrm>
          <a:prstGeom prst="roundRect">
            <a:avLst>
              <a:gd name="adj" fmla="val 8571"/>
            </a:avLst>
          </a:prstGeom>
          <a:solidFill>
            <a:srgbClr val="17324D"/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418320" y="22128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F4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最後的問題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354312" y="2907792"/>
            <a:ext cx="1508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誰來決定？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9354312" y="3977640"/>
            <a:ext cx="1508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可接受的價值取捨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需要人負責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D8DEE5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 txBox="1"/>
          <p:nvPr/>
        </p:nvSpPr>
        <p:spPr>
          <a:xfrm>
            <a:off x="594360" y="6556248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LIMITS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1110996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47472"/>
            <a:ext cx="10789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結語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658368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3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從模型去偏見，走向系統責任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12648" y="1261872"/>
            <a:ext cx="10972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三句話帶走今天的框架。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82880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DF4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792224"/>
            <a:ext cx="9326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的偏見不只來自模型，也來自目標、資料、工具、記憶與回饋。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78892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DF4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752344"/>
            <a:ext cx="9326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能夠行動，因此小偏差可能經過多步決策被放大。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374904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DF4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3712464"/>
            <a:ext cx="9326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真正的去偏見需要評測、權限控制、人工監督與持續治理。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525780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DDF4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可信任 AI 不是「沒有偏見」的承諾，而是「能發現、能限制、能負責」的能力。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D8DEE5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 txBox="1"/>
          <p:nvPr/>
        </p:nvSpPr>
        <p:spPr>
          <a:xfrm>
            <a:off x="594360" y="6556248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CLOSING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1110996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68C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005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DF4E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留給大家的問題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2880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當 Agent 做出不公平的決定時，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633472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責任屬於模型、資料、工具、設計者，</a:t>
            </a:r>
            <a:endParaRPr lang="en-US" sz="3100" dirty="0"/>
          </a:p>
          <a:p>
            <a:pPr algn="l"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還是授權它行動的人？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822960" y="4983480"/>
            <a:ext cx="2834640" cy="475488"/>
          </a:xfrm>
          <a:prstGeom prst="roundRect">
            <a:avLst>
              <a:gd name="adj" fmla="val 50000"/>
            </a:avLst>
          </a:prstGeom>
          <a:solidFill>
            <a:srgbClr val="17324D"/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 Agent 值得被信任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94360" y="6473952"/>
            <a:ext cx="11000232" cy="0"/>
          </a:xfrm>
          <a:prstGeom prst="line">
            <a:avLst/>
          </a:prstGeom>
          <a:noFill/>
          <a:ln w="10160">
            <a:solidFill>
              <a:srgbClr val="D8DEE5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 txBox="1"/>
          <p:nvPr/>
        </p:nvSpPr>
        <p:spPr>
          <a:xfrm>
            <a:off x="594360" y="6556248"/>
            <a:ext cx="3200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5C677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DISCUSSION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1109960" y="6537960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6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邁向可信任 AI：開發者必備的 Agents 偏見檢測與緩解框架</dc:title>
  <dc:subject>Agents 偏見檢測與緩解框架</dc:subject>
  <dc:creator>OpenAI</dc:creator>
  <cp:lastModifiedBy>OpenAI</cp:lastModifiedBy>
  <cp:revision>1</cp:revision>
  <dcterms:created xsi:type="dcterms:W3CDTF">2026-08-07T02:04:32Z</dcterms:created>
  <dcterms:modified xsi:type="dcterms:W3CDTF">2026-08-07T02:04:32Z</dcterms:modified>
</cp:coreProperties>
</file>